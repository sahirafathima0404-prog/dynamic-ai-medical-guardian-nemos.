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mo Bold" charset="1" panose="020B0704020202020204"/>
      <p:regular r:id="rId17"/>
    </p:embeddedFont>
    <p:embeddedFont>
      <p:font typeface="Arimo" charset="1" panose="020B0604020202020204"/>
      <p:regular r:id="rId18"/>
    </p:embeddedFont>
    <p:embeddedFont>
      <p:font typeface="Arimo Italics" charset="1" panose="020B060402020209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0124" y="3027493"/>
            <a:ext cx="16338204" cy="45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1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SRI SHAKTHI INSTITUTE OF ENGINEERING AND TECHNOLOGY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20124" y="4045439"/>
            <a:ext cx="16338204" cy="102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76"/>
              </a:lnSpc>
            </a:pPr>
            <a:r>
              <a:rPr lang="en-US" sz="8406" b="true">
                <a:solidFill>
                  <a:srgbClr val="1E3A5F"/>
                </a:solidFill>
                <a:latin typeface="Arimo Bold"/>
                <a:ea typeface="Arimo Bold"/>
                <a:cs typeface="Arimo Bold"/>
                <a:sym typeface="Arimo Bold"/>
              </a:rPr>
              <a:t>Dynamic AI Medical Guardian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20124" y="5305234"/>
            <a:ext cx="16338204" cy="68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sz="3302">
                <a:solidFill>
                  <a:srgbClr val="4A6685"/>
                </a:solidFill>
                <a:latin typeface="Arimo"/>
                <a:ea typeface="Arimo"/>
                <a:cs typeface="Arimo"/>
                <a:sym typeface="Arimo"/>
              </a:rPr>
              <a:t>Offline-First USB Medical AI &amp; Emergency Guardian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0124" y="6279842"/>
            <a:ext cx="16338204" cy="9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1E3A5F"/>
                </a:solidFill>
                <a:latin typeface="Arimo Bold"/>
                <a:ea typeface="Arimo Bold"/>
                <a:cs typeface="Arimo Bold"/>
                <a:sym typeface="Arimo Bold"/>
              </a:rPr>
              <a:t>Team Leader:</a:t>
            </a:r>
            <a:r>
              <a:rPr lang="en-US" sz="2401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 Sahira Fathima I</a:t>
            </a:r>
          </a:p>
          <a:p>
            <a:pPr algn="l">
              <a:lnSpc>
                <a:spcPts val="3372"/>
              </a:lnSpc>
            </a:pPr>
            <a:r>
              <a:rPr lang="en-US" sz="2401" b="true">
                <a:solidFill>
                  <a:srgbClr val="1E3A5F"/>
                </a:solidFill>
                <a:latin typeface="Arimo Bold"/>
                <a:ea typeface="Arimo Bold"/>
                <a:cs typeface="Arimo Bold"/>
                <a:sym typeface="Arimo Bold"/>
              </a:rPr>
              <a:t>Team Members:</a:t>
            </a:r>
            <a:r>
              <a:rPr lang="en-US" sz="2401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 Nethraa N, Mogith R, Seenivasa Maya 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0124" y="1256833"/>
            <a:ext cx="16337309" cy="69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5103" b="true">
                <a:solidFill>
                  <a:srgbClr val="1E3A5F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 &amp; Proposed Solution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20124" y="2466965"/>
            <a:ext cx="7754007" cy="3916642"/>
            <a:chOff x="0" y="0"/>
            <a:chExt cx="10338676" cy="52221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38688" cy="5222240"/>
            </a:xfrm>
            <a:custGeom>
              <a:avLst/>
              <a:gdLst/>
              <a:ahLst/>
              <a:cxnLst/>
              <a:rect r="r" b="b" t="t" l="l"/>
              <a:pathLst>
                <a:path h="5222240" w="10338688">
                  <a:moveTo>
                    <a:pt x="0" y="229870"/>
                  </a:moveTo>
                  <a:cubicBezTo>
                    <a:pt x="0" y="102870"/>
                    <a:pt x="102870" y="0"/>
                    <a:pt x="229870" y="0"/>
                  </a:cubicBezTo>
                  <a:lnTo>
                    <a:pt x="10108819" y="0"/>
                  </a:lnTo>
                  <a:cubicBezTo>
                    <a:pt x="10235819" y="0"/>
                    <a:pt x="10338688" y="102870"/>
                    <a:pt x="10338688" y="229870"/>
                  </a:cubicBezTo>
                  <a:lnTo>
                    <a:pt x="10338688" y="4992370"/>
                  </a:lnTo>
                  <a:cubicBezTo>
                    <a:pt x="10338688" y="5119370"/>
                    <a:pt x="10235819" y="5222240"/>
                    <a:pt x="10108819" y="5222240"/>
                  </a:cubicBezTo>
                  <a:lnTo>
                    <a:pt x="229870" y="5222240"/>
                  </a:lnTo>
                  <a:cubicBezTo>
                    <a:pt x="102870" y="5222240"/>
                    <a:pt x="0" y="5119370"/>
                    <a:pt x="0" y="499237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DE8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710585" y="2938396"/>
            <a:ext cx="7015410" cy="47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B42318"/>
                </a:solidFill>
                <a:latin typeface="Arimo Bold"/>
                <a:ea typeface="Arimo Bold"/>
                <a:cs typeface="Arimo Bold"/>
                <a:sym typeface="Arimo Bold"/>
              </a:rPr>
              <a:t>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0585" y="3538966"/>
            <a:ext cx="6929618" cy="13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Smart healthcare depends on cloud servers, so network dropouts, remote travel or golden-hour emergencies can cause total failure.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0585" y="5010541"/>
            <a:ext cx="6929618" cy="9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Sensitive data such as prescriptions and blood markers is exposed on vulnerable cloud platforms.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55417" y="2466965"/>
            <a:ext cx="7726156" cy="3916642"/>
            <a:chOff x="0" y="0"/>
            <a:chExt cx="10301542" cy="52221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01605" cy="5222240"/>
            </a:xfrm>
            <a:custGeom>
              <a:avLst/>
              <a:gdLst/>
              <a:ahLst/>
              <a:cxnLst/>
              <a:rect r="r" b="b" t="t" l="l"/>
              <a:pathLst>
                <a:path h="5222240" w="10301605">
                  <a:moveTo>
                    <a:pt x="0" y="244094"/>
                  </a:moveTo>
                  <a:cubicBezTo>
                    <a:pt x="0" y="109220"/>
                    <a:pt x="109220" y="0"/>
                    <a:pt x="244094" y="0"/>
                  </a:cubicBezTo>
                  <a:lnTo>
                    <a:pt x="10057511" y="0"/>
                  </a:lnTo>
                  <a:cubicBezTo>
                    <a:pt x="10192258" y="0"/>
                    <a:pt x="10301605" y="109220"/>
                    <a:pt x="10301605" y="244094"/>
                  </a:cubicBezTo>
                  <a:lnTo>
                    <a:pt x="10301605" y="4978146"/>
                  </a:lnTo>
                  <a:cubicBezTo>
                    <a:pt x="10301605" y="5112893"/>
                    <a:pt x="10192385" y="5222240"/>
                    <a:pt x="10057511" y="5222240"/>
                  </a:cubicBezTo>
                  <a:lnTo>
                    <a:pt x="244094" y="5222240"/>
                  </a:lnTo>
                  <a:cubicBezTo>
                    <a:pt x="109220" y="5222240"/>
                    <a:pt x="0" y="5112893"/>
                    <a:pt x="0" y="4978146"/>
                  </a:cubicBezTo>
                  <a:close/>
                </a:path>
              </a:pathLst>
            </a:custGeom>
            <a:solidFill>
              <a:srgbClr val="D9EFE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812960" y="2905477"/>
            <a:ext cx="7015410" cy="47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Solution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12960" y="3506048"/>
            <a:ext cx="6929618" cy="176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A portable, offline-first USB web application and AI guardian that runs locally or on secure standalone nodes, with no need for continuous cloud connectivity.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0124" y="1256833"/>
            <a:ext cx="16337309" cy="69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5103" b="true">
                <a:solidFill>
                  <a:srgbClr val="1E3A5F"/>
                </a:solidFill>
                <a:latin typeface="Arimo Bold"/>
                <a:ea typeface="Arimo Bold"/>
                <a:cs typeface="Arimo Bold"/>
                <a:sym typeface="Arimo Bold"/>
              </a:rPr>
              <a:t>Healthcare Uses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20124" y="2390708"/>
            <a:ext cx="6291253" cy="6291415"/>
            <a:chOff x="0" y="0"/>
            <a:chExt cx="8388337" cy="83885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388350" cy="8388604"/>
            </a:xfrm>
            <a:custGeom>
              <a:avLst/>
              <a:gdLst/>
              <a:ahLst/>
              <a:cxnLst/>
              <a:rect r="r" b="b" t="t" l="l"/>
              <a:pathLst>
                <a:path h="8388604" w="8388350">
                  <a:moveTo>
                    <a:pt x="0" y="0"/>
                  </a:moveTo>
                  <a:lnTo>
                    <a:pt x="8388350" y="0"/>
                  </a:lnTo>
                  <a:lnTo>
                    <a:pt x="8388350" y="8388604"/>
                  </a:lnTo>
                  <a:lnTo>
                    <a:pt x="0" y="838860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20124" y="2390708"/>
            <a:ext cx="6291253" cy="6291415"/>
            <a:chOff x="0" y="0"/>
            <a:chExt cx="8388337" cy="8388553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8388350" cy="8388604"/>
            </a:xfrm>
            <a:custGeom>
              <a:avLst/>
              <a:gdLst/>
              <a:ahLst/>
              <a:cxnLst/>
              <a:rect r="r" b="b" t="t" l="l"/>
              <a:pathLst>
                <a:path h="8388604" w="8388350">
                  <a:moveTo>
                    <a:pt x="0" y="0"/>
                  </a:moveTo>
                  <a:lnTo>
                    <a:pt x="8388350" y="0"/>
                  </a:lnTo>
                  <a:lnTo>
                    <a:pt x="8388350" y="8388604"/>
                  </a:lnTo>
                  <a:lnTo>
                    <a:pt x="0" y="8388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806880" y="2381174"/>
            <a:ext cx="4594527" cy="1182024"/>
            <a:chOff x="0" y="0"/>
            <a:chExt cx="6126036" cy="15760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26099" cy="1576070"/>
            </a:xfrm>
            <a:custGeom>
              <a:avLst/>
              <a:gdLst/>
              <a:ahLst/>
              <a:cxnLst/>
              <a:rect r="r" b="b" t="t" l="l"/>
              <a:pathLst>
                <a:path h="1576070" w="6126099">
                  <a:moveTo>
                    <a:pt x="0" y="248031"/>
                  </a:moveTo>
                  <a:cubicBezTo>
                    <a:pt x="0" y="110998"/>
                    <a:pt x="110998" y="0"/>
                    <a:pt x="248031" y="0"/>
                  </a:cubicBezTo>
                  <a:lnTo>
                    <a:pt x="5878068" y="0"/>
                  </a:lnTo>
                  <a:cubicBezTo>
                    <a:pt x="6015101" y="0"/>
                    <a:pt x="6126099" y="110998"/>
                    <a:pt x="6126099" y="248031"/>
                  </a:cubicBezTo>
                  <a:lnTo>
                    <a:pt x="6126099" y="1328039"/>
                  </a:lnTo>
                  <a:cubicBezTo>
                    <a:pt x="6126099" y="1465072"/>
                    <a:pt x="6015101" y="1576070"/>
                    <a:pt x="5878068" y="1576070"/>
                  </a:cubicBezTo>
                  <a:lnTo>
                    <a:pt x="248031" y="1576070"/>
                  </a:lnTo>
                  <a:cubicBezTo>
                    <a:pt x="110998" y="1576070"/>
                    <a:pt x="0" y="1464945"/>
                    <a:pt x="0" y="13280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DE8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8064246" y="2486092"/>
            <a:ext cx="4079786" cy="110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01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Medical Information Management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Organized medical records in one place.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496724" y="2381174"/>
            <a:ext cx="4594527" cy="1182024"/>
            <a:chOff x="0" y="0"/>
            <a:chExt cx="6126036" cy="15760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26099" cy="1576070"/>
            </a:xfrm>
            <a:custGeom>
              <a:avLst/>
              <a:gdLst/>
              <a:ahLst/>
              <a:cxnLst/>
              <a:rect r="r" b="b" t="t" l="l"/>
              <a:pathLst>
                <a:path h="1576070" w="6126099">
                  <a:moveTo>
                    <a:pt x="0" y="248031"/>
                  </a:moveTo>
                  <a:cubicBezTo>
                    <a:pt x="0" y="110998"/>
                    <a:pt x="110998" y="0"/>
                    <a:pt x="248031" y="0"/>
                  </a:cubicBezTo>
                  <a:lnTo>
                    <a:pt x="5878068" y="0"/>
                  </a:lnTo>
                  <a:cubicBezTo>
                    <a:pt x="6015101" y="0"/>
                    <a:pt x="6126099" y="110998"/>
                    <a:pt x="6126099" y="248031"/>
                  </a:cubicBezTo>
                  <a:lnTo>
                    <a:pt x="6126099" y="1328039"/>
                  </a:lnTo>
                  <a:cubicBezTo>
                    <a:pt x="6126099" y="1465072"/>
                    <a:pt x="6015101" y="1576070"/>
                    <a:pt x="5878068" y="1576070"/>
                  </a:cubicBezTo>
                  <a:lnTo>
                    <a:pt x="248031" y="1576070"/>
                  </a:lnTo>
                  <a:cubicBezTo>
                    <a:pt x="110998" y="1576070"/>
                    <a:pt x="0" y="1464945"/>
                    <a:pt x="0" y="13280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DE8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754099" y="2486092"/>
            <a:ext cx="4079786" cy="110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01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Medicine Schedule Tracking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Timely reminders for every dose.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806880" y="3658524"/>
            <a:ext cx="4594527" cy="1182024"/>
            <a:chOff x="0" y="0"/>
            <a:chExt cx="6126036" cy="15760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26099" cy="1576070"/>
            </a:xfrm>
            <a:custGeom>
              <a:avLst/>
              <a:gdLst/>
              <a:ahLst/>
              <a:cxnLst/>
              <a:rect r="r" b="b" t="t" l="l"/>
              <a:pathLst>
                <a:path h="1576070" w="6126099">
                  <a:moveTo>
                    <a:pt x="0" y="248031"/>
                  </a:moveTo>
                  <a:cubicBezTo>
                    <a:pt x="0" y="110998"/>
                    <a:pt x="110998" y="0"/>
                    <a:pt x="248031" y="0"/>
                  </a:cubicBezTo>
                  <a:lnTo>
                    <a:pt x="5878068" y="0"/>
                  </a:lnTo>
                  <a:cubicBezTo>
                    <a:pt x="6015101" y="0"/>
                    <a:pt x="6126099" y="110998"/>
                    <a:pt x="6126099" y="248031"/>
                  </a:cubicBezTo>
                  <a:lnTo>
                    <a:pt x="6126099" y="1328039"/>
                  </a:lnTo>
                  <a:cubicBezTo>
                    <a:pt x="6126099" y="1465072"/>
                    <a:pt x="6015101" y="1576070"/>
                    <a:pt x="5878068" y="1576070"/>
                  </a:cubicBezTo>
                  <a:lnTo>
                    <a:pt x="248031" y="1576070"/>
                  </a:lnTo>
                  <a:cubicBezTo>
                    <a:pt x="110998" y="1576070"/>
                    <a:pt x="0" y="1464945"/>
                    <a:pt x="0" y="13280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DE8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8064246" y="3763442"/>
            <a:ext cx="4079786" cy="110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01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Weekly Reports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Summaries of medicine and health logs.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496724" y="3658524"/>
            <a:ext cx="4594527" cy="1182024"/>
            <a:chOff x="0" y="0"/>
            <a:chExt cx="6126036" cy="157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26099" cy="1576070"/>
            </a:xfrm>
            <a:custGeom>
              <a:avLst/>
              <a:gdLst/>
              <a:ahLst/>
              <a:cxnLst/>
              <a:rect r="r" b="b" t="t" l="l"/>
              <a:pathLst>
                <a:path h="1576070" w="6126099">
                  <a:moveTo>
                    <a:pt x="0" y="248031"/>
                  </a:moveTo>
                  <a:cubicBezTo>
                    <a:pt x="0" y="110998"/>
                    <a:pt x="110998" y="0"/>
                    <a:pt x="248031" y="0"/>
                  </a:cubicBezTo>
                  <a:lnTo>
                    <a:pt x="5878068" y="0"/>
                  </a:lnTo>
                  <a:cubicBezTo>
                    <a:pt x="6015101" y="0"/>
                    <a:pt x="6126099" y="110998"/>
                    <a:pt x="6126099" y="248031"/>
                  </a:cubicBezTo>
                  <a:lnTo>
                    <a:pt x="6126099" y="1328039"/>
                  </a:lnTo>
                  <a:cubicBezTo>
                    <a:pt x="6126099" y="1465072"/>
                    <a:pt x="6015101" y="1576070"/>
                    <a:pt x="5878068" y="1576070"/>
                  </a:cubicBezTo>
                  <a:lnTo>
                    <a:pt x="248031" y="1576070"/>
                  </a:lnTo>
                  <a:cubicBezTo>
                    <a:pt x="110998" y="1576070"/>
                    <a:pt x="0" y="1464945"/>
                    <a:pt x="0" y="13280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DE8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754099" y="3763442"/>
            <a:ext cx="4079786" cy="110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01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Emergency Dossier Access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Restricted access with PIN separation.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06880" y="4935874"/>
            <a:ext cx="4594527" cy="1182024"/>
            <a:chOff x="0" y="0"/>
            <a:chExt cx="6126036" cy="157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26099" cy="1576070"/>
            </a:xfrm>
            <a:custGeom>
              <a:avLst/>
              <a:gdLst/>
              <a:ahLst/>
              <a:cxnLst/>
              <a:rect r="r" b="b" t="t" l="l"/>
              <a:pathLst>
                <a:path h="1576070" w="6126099">
                  <a:moveTo>
                    <a:pt x="0" y="248031"/>
                  </a:moveTo>
                  <a:cubicBezTo>
                    <a:pt x="0" y="110998"/>
                    <a:pt x="110998" y="0"/>
                    <a:pt x="248031" y="0"/>
                  </a:cubicBezTo>
                  <a:lnTo>
                    <a:pt x="5878068" y="0"/>
                  </a:lnTo>
                  <a:cubicBezTo>
                    <a:pt x="6015101" y="0"/>
                    <a:pt x="6126099" y="110998"/>
                    <a:pt x="6126099" y="248031"/>
                  </a:cubicBezTo>
                  <a:lnTo>
                    <a:pt x="6126099" y="1328039"/>
                  </a:lnTo>
                  <a:cubicBezTo>
                    <a:pt x="6126099" y="1465072"/>
                    <a:pt x="6015101" y="1576070"/>
                    <a:pt x="5878068" y="1576070"/>
                  </a:cubicBezTo>
                  <a:lnTo>
                    <a:pt x="248031" y="1576070"/>
                  </a:lnTo>
                  <a:cubicBezTo>
                    <a:pt x="110998" y="1576070"/>
                    <a:pt x="0" y="1464945"/>
                    <a:pt x="0" y="13280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DE8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8064246" y="5040792"/>
            <a:ext cx="4079786" cy="110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01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Voice &amp; Text Interaction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Hands-free use by voice or text.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496724" y="4935874"/>
            <a:ext cx="4594527" cy="1182024"/>
            <a:chOff x="0" y="0"/>
            <a:chExt cx="6126036" cy="15760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26099" cy="1576070"/>
            </a:xfrm>
            <a:custGeom>
              <a:avLst/>
              <a:gdLst/>
              <a:ahLst/>
              <a:cxnLst/>
              <a:rect r="r" b="b" t="t" l="l"/>
              <a:pathLst>
                <a:path h="1576070" w="6126099">
                  <a:moveTo>
                    <a:pt x="0" y="248031"/>
                  </a:moveTo>
                  <a:cubicBezTo>
                    <a:pt x="0" y="110998"/>
                    <a:pt x="110998" y="0"/>
                    <a:pt x="248031" y="0"/>
                  </a:cubicBezTo>
                  <a:lnTo>
                    <a:pt x="5878068" y="0"/>
                  </a:lnTo>
                  <a:cubicBezTo>
                    <a:pt x="6015101" y="0"/>
                    <a:pt x="6126099" y="110998"/>
                    <a:pt x="6126099" y="248031"/>
                  </a:cubicBezTo>
                  <a:lnTo>
                    <a:pt x="6126099" y="1328039"/>
                  </a:lnTo>
                  <a:cubicBezTo>
                    <a:pt x="6126099" y="1465072"/>
                    <a:pt x="6015101" y="1576070"/>
                    <a:pt x="5878068" y="1576070"/>
                  </a:cubicBezTo>
                  <a:lnTo>
                    <a:pt x="248031" y="1576070"/>
                  </a:lnTo>
                  <a:cubicBezTo>
                    <a:pt x="110998" y="1576070"/>
                    <a:pt x="0" y="1464945"/>
                    <a:pt x="0" y="13280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DE8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2754099" y="5040792"/>
            <a:ext cx="4079786" cy="110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01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Multilingual Accessibility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Support for diverse patients.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806880" y="6213215"/>
            <a:ext cx="4594527" cy="1182024"/>
            <a:chOff x="0" y="0"/>
            <a:chExt cx="6126036" cy="15760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26099" cy="1576070"/>
            </a:xfrm>
            <a:custGeom>
              <a:avLst/>
              <a:gdLst/>
              <a:ahLst/>
              <a:cxnLst/>
              <a:rect r="r" b="b" t="t" l="l"/>
              <a:pathLst>
                <a:path h="1576070" w="6126099">
                  <a:moveTo>
                    <a:pt x="0" y="248031"/>
                  </a:moveTo>
                  <a:cubicBezTo>
                    <a:pt x="0" y="110998"/>
                    <a:pt x="110998" y="0"/>
                    <a:pt x="248031" y="0"/>
                  </a:cubicBezTo>
                  <a:lnTo>
                    <a:pt x="5878068" y="0"/>
                  </a:lnTo>
                  <a:cubicBezTo>
                    <a:pt x="6015101" y="0"/>
                    <a:pt x="6126099" y="110998"/>
                    <a:pt x="6126099" y="248031"/>
                  </a:cubicBezTo>
                  <a:lnTo>
                    <a:pt x="6126099" y="1328039"/>
                  </a:lnTo>
                  <a:cubicBezTo>
                    <a:pt x="6126099" y="1465072"/>
                    <a:pt x="6015101" y="1576070"/>
                    <a:pt x="5878068" y="1576070"/>
                  </a:cubicBezTo>
                  <a:lnTo>
                    <a:pt x="248031" y="1576070"/>
                  </a:lnTo>
                  <a:cubicBezTo>
                    <a:pt x="110998" y="1576070"/>
                    <a:pt x="0" y="1464945"/>
                    <a:pt x="0" y="13280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DE8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8064246" y="6318133"/>
            <a:ext cx="4079786" cy="110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01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Privacy-Focused Local Handling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Sensitive data stays on the device.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496724" y="6213215"/>
            <a:ext cx="4594527" cy="1182024"/>
            <a:chOff x="0" y="0"/>
            <a:chExt cx="6126036" cy="157603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126099" cy="1576070"/>
            </a:xfrm>
            <a:custGeom>
              <a:avLst/>
              <a:gdLst/>
              <a:ahLst/>
              <a:cxnLst/>
              <a:rect r="r" b="b" t="t" l="l"/>
              <a:pathLst>
                <a:path h="1576070" w="6126099">
                  <a:moveTo>
                    <a:pt x="0" y="248031"/>
                  </a:moveTo>
                  <a:cubicBezTo>
                    <a:pt x="0" y="110998"/>
                    <a:pt x="110998" y="0"/>
                    <a:pt x="248031" y="0"/>
                  </a:cubicBezTo>
                  <a:lnTo>
                    <a:pt x="5878068" y="0"/>
                  </a:lnTo>
                  <a:cubicBezTo>
                    <a:pt x="6015101" y="0"/>
                    <a:pt x="6126099" y="110998"/>
                    <a:pt x="6126099" y="248031"/>
                  </a:cubicBezTo>
                  <a:lnTo>
                    <a:pt x="6126099" y="1328039"/>
                  </a:lnTo>
                  <a:cubicBezTo>
                    <a:pt x="6126099" y="1465072"/>
                    <a:pt x="6015101" y="1576070"/>
                    <a:pt x="5878068" y="1576070"/>
                  </a:cubicBezTo>
                  <a:lnTo>
                    <a:pt x="248031" y="1576070"/>
                  </a:lnTo>
                  <a:cubicBezTo>
                    <a:pt x="110998" y="1576070"/>
                    <a:pt x="0" y="1464945"/>
                    <a:pt x="0" y="13280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DE8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2754099" y="6318133"/>
            <a:ext cx="4079786" cy="162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01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Caregiver &amp; Emergency Contact Support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Keeps caregivers and contacts informed.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806880" y="7490565"/>
            <a:ext cx="9284370" cy="1182024"/>
            <a:chOff x="0" y="0"/>
            <a:chExt cx="12379160" cy="15760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379199" cy="1576070"/>
            </a:xfrm>
            <a:custGeom>
              <a:avLst/>
              <a:gdLst/>
              <a:ahLst/>
              <a:cxnLst/>
              <a:rect r="r" b="b" t="t" l="l"/>
              <a:pathLst>
                <a:path h="1576070" w="12379199">
                  <a:moveTo>
                    <a:pt x="0" y="248031"/>
                  </a:moveTo>
                  <a:cubicBezTo>
                    <a:pt x="0" y="110998"/>
                    <a:pt x="110998" y="0"/>
                    <a:pt x="248031" y="0"/>
                  </a:cubicBezTo>
                  <a:lnTo>
                    <a:pt x="12131167" y="0"/>
                  </a:lnTo>
                  <a:cubicBezTo>
                    <a:pt x="12268200" y="0"/>
                    <a:pt x="12379199" y="110998"/>
                    <a:pt x="12379199" y="248031"/>
                  </a:cubicBezTo>
                  <a:lnTo>
                    <a:pt x="12379199" y="1328039"/>
                  </a:lnTo>
                  <a:cubicBezTo>
                    <a:pt x="12379199" y="1465072"/>
                    <a:pt x="12268200" y="1576070"/>
                    <a:pt x="12131167" y="1576070"/>
                  </a:cubicBezTo>
                  <a:lnTo>
                    <a:pt x="248031" y="1576070"/>
                  </a:lnTo>
                  <a:cubicBezTo>
                    <a:pt x="110998" y="1576070"/>
                    <a:pt x="0" y="1464945"/>
                    <a:pt x="0" y="13280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DE8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8064246" y="7595483"/>
            <a:ext cx="8769629" cy="110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01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Medication Adherence Review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Tracks adherence over time.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838" y="646795"/>
            <a:ext cx="16624173" cy="806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1E3A5F"/>
                </a:solidFill>
                <a:latin typeface="Arimo Bold"/>
                <a:ea typeface="Arimo Bold"/>
                <a:cs typeface="Arimo Bold"/>
                <a:sym typeface="Arimo Bold"/>
              </a:rPr>
              <a:t>Technical Stack &amp; AI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3689" y="1878787"/>
            <a:ext cx="8102375" cy="3764871"/>
            <a:chOff x="0" y="0"/>
            <a:chExt cx="10803166" cy="50198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03255" cy="5019802"/>
            </a:xfrm>
            <a:custGeom>
              <a:avLst/>
              <a:gdLst/>
              <a:ahLst/>
              <a:cxnLst/>
              <a:rect r="r" b="b" t="t" l="l"/>
              <a:pathLst>
                <a:path h="5019802" w="10803255">
                  <a:moveTo>
                    <a:pt x="0" y="229997"/>
                  </a:moveTo>
                  <a:cubicBezTo>
                    <a:pt x="0" y="102997"/>
                    <a:pt x="102997" y="0"/>
                    <a:pt x="229997" y="0"/>
                  </a:cubicBezTo>
                  <a:lnTo>
                    <a:pt x="10573258" y="0"/>
                  </a:lnTo>
                  <a:cubicBezTo>
                    <a:pt x="10700258" y="0"/>
                    <a:pt x="10803255" y="102997"/>
                    <a:pt x="10803255" y="229997"/>
                  </a:cubicBezTo>
                  <a:lnTo>
                    <a:pt x="10803255" y="4789805"/>
                  </a:lnTo>
                  <a:cubicBezTo>
                    <a:pt x="10803255" y="4916805"/>
                    <a:pt x="10700258" y="5019802"/>
                    <a:pt x="10573258" y="5019802"/>
                  </a:cubicBezTo>
                  <a:lnTo>
                    <a:pt x="229997" y="5019802"/>
                  </a:lnTo>
                  <a:cubicBezTo>
                    <a:pt x="102997" y="5019802"/>
                    <a:pt x="0" y="4916805"/>
                    <a:pt x="0" y="4789805"/>
                  </a:cubicBezTo>
                  <a:close/>
                </a:path>
              </a:pathLst>
            </a:custGeom>
            <a:solidFill>
              <a:srgbClr val="F7FBFF"/>
            </a:solidFill>
            <a:ln w="19065" cap="sq">
              <a:solidFill>
                <a:srgbClr val="CFE0F1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429826" y="2307765"/>
            <a:ext cx="7130091" cy="47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Frontend &amp; UI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9826" y="2908935"/>
            <a:ext cx="7130091" cy="166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HTML5 for structure; CSS3 for responsive dark-theme styling; JavaScript for navigation, PIN validation, medicine records, language selection, themes, reports, and emergency workflows.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55776" y="1878787"/>
            <a:ext cx="8102375" cy="3764871"/>
            <a:chOff x="0" y="0"/>
            <a:chExt cx="10803166" cy="50198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03255" cy="5019802"/>
            </a:xfrm>
            <a:custGeom>
              <a:avLst/>
              <a:gdLst/>
              <a:ahLst/>
              <a:cxnLst/>
              <a:rect r="r" b="b" t="t" l="l"/>
              <a:pathLst>
                <a:path h="5019802" w="10803255">
                  <a:moveTo>
                    <a:pt x="0" y="229997"/>
                  </a:moveTo>
                  <a:cubicBezTo>
                    <a:pt x="0" y="102997"/>
                    <a:pt x="102997" y="0"/>
                    <a:pt x="229997" y="0"/>
                  </a:cubicBezTo>
                  <a:lnTo>
                    <a:pt x="10573258" y="0"/>
                  </a:lnTo>
                  <a:cubicBezTo>
                    <a:pt x="10700258" y="0"/>
                    <a:pt x="10803255" y="102997"/>
                    <a:pt x="10803255" y="229997"/>
                  </a:cubicBezTo>
                  <a:lnTo>
                    <a:pt x="10803255" y="4789805"/>
                  </a:lnTo>
                  <a:cubicBezTo>
                    <a:pt x="10803255" y="4916805"/>
                    <a:pt x="10700258" y="5019802"/>
                    <a:pt x="10573258" y="5019802"/>
                  </a:cubicBezTo>
                  <a:lnTo>
                    <a:pt x="229997" y="5019802"/>
                  </a:lnTo>
                  <a:cubicBezTo>
                    <a:pt x="102997" y="5019802"/>
                    <a:pt x="0" y="4916805"/>
                    <a:pt x="0" y="4789805"/>
                  </a:cubicBezTo>
                  <a:close/>
                </a:path>
              </a:pathLst>
            </a:custGeom>
            <a:solidFill>
              <a:srgbClr val="F7FBFF"/>
            </a:solidFill>
            <a:ln w="19065" cap="sq">
              <a:solidFill>
                <a:srgbClr val="CFE0F1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741922" y="2307765"/>
            <a:ext cx="7130091" cy="47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AI, Voice &amp; Languages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41922" y="2908935"/>
            <a:ext cx="7130091" cy="20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Compatible local language model plus an inference runtime for offline responses; voice input and text-to-speech through supported speech technologies or offline engines; English, Tamil, Tanglish, Hindi, Malayalam, and Telugu, subject to model and speech-engine support.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3689" y="5853370"/>
            <a:ext cx="8102375" cy="3764871"/>
            <a:chOff x="0" y="0"/>
            <a:chExt cx="10803166" cy="50198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03255" cy="5019802"/>
            </a:xfrm>
            <a:custGeom>
              <a:avLst/>
              <a:gdLst/>
              <a:ahLst/>
              <a:cxnLst/>
              <a:rect r="r" b="b" t="t" l="l"/>
              <a:pathLst>
                <a:path h="5019802" w="10803255">
                  <a:moveTo>
                    <a:pt x="0" y="229997"/>
                  </a:moveTo>
                  <a:cubicBezTo>
                    <a:pt x="0" y="102997"/>
                    <a:pt x="102997" y="0"/>
                    <a:pt x="229997" y="0"/>
                  </a:cubicBezTo>
                  <a:lnTo>
                    <a:pt x="10573258" y="0"/>
                  </a:lnTo>
                  <a:cubicBezTo>
                    <a:pt x="10700258" y="0"/>
                    <a:pt x="10803255" y="102997"/>
                    <a:pt x="10803255" y="229997"/>
                  </a:cubicBezTo>
                  <a:lnTo>
                    <a:pt x="10803255" y="4789805"/>
                  </a:lnTo>
                  <a:cubicBezTo>
                    <a:pt x="10803255" y="4916805"/>
                    <a:pt x="10700258" y="5019802"/>
                    <a:pt x="10573258" y="5019802"/>
                  </a:cubicBezTo>
                  <a:lnTo>
                    <a:pt x="229997" y="5019802"/>
                  </a:lnTo>
                  <a:cubicBezTo>
                    <a:pt x="102997" y="5019802"/>
                    <a:pt x="0" y="4916805"/>
                    <a:pt x="0" y="4789805"/>
                  </a:cubicBezTo>
                  <a:close/>
                </a:path>
              </a:pathLst>
            </a:custGeom>
            <a:solidFill>
              <a:srgbClr val="F7FBFF"/>
            </a:solidFill>
            <a:ln w="19065" cap="sq">
              <a:solidFill>
                <a:srgbClr val="CFE0F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29826" y="6282347"/>
            <a:ext cx="7130091" cy="47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Security &amp;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9826" y="6883527"/>
            <a:ext cx="7130091" cy="126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Emergency PIN 1999; personal PIN 7777 or custom PIN; local prototype storage. Real medical data requires encryption and a secure database.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55776" y="5853370"/>
            <a:ext cx="8102375" cy="3764871"/>
            <a:chOff x="0" y="0"/>
            <a:chExt cx="10803166" cy="50198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03255" cy="5019802"/>
            </a:xfrm>
            <a:custGeom>
              <a:avLst/>
              <a:gdLst/>
              <a:ahLst/>
              <a:cxnLst/>
              <a:rect r="r" b="b" t="t" l="l"/>
              <a:pathLst>
                <a:path h="5019802" w="10803255">
                  <a:moveTo>
                    <a:pt x="0" y="229997"/>
                  </a:moveTo>
                  <a:cubicBezTo>
                    <a:pt x="0" y="102997"/>
                    <a:pt x="102997" y="0"/>
                    <a:pt x="229997" y="0"/>
                  </a:cubicBezTo>
                  <a:lnTo>
                    <a:pt x="10573258" y="0"/>
                  </a:lnTo>
                  <a:cubicBezTo>
                    <a:pt x="10700258" y="0"/>
                    <a:pt x="10803255" y="102997"/>
                    <a:pt x="10803255" y="229997"/>
                  </a:cubicBezTo>
                  <a:lnTo>
                    <a:pt x="10803255" y="4789805"/>
                  </a:lnTo>
                  <a:cubicBezTo>
                    <a:pt x="10803255" y="4916805"/>
                    <a:pt x="10700258" y="5019802"/>
                    <a:pt x="10573258" y="5019802"/>
                  </a:cubicBezTo>
                  <a:lnTo>
                    <a:pt x="229997" y="5019802"/>
                  </a:lnTo>
                  <a:cubicBezTo>
                    <a:pt x="102997" y="5019802"/>
                    <a:pt x="0" y="4916805"/>
                    <a:pt x="0" y="4789805"/>
                  </a:cubicBezTo>
                  <a:close/>
                </a:path>
              </a:pathLst>
            </a:custGeom>
            <a:solidFill>
              <a:srgbClr val="F7FBFF"/>
            </a:solidFill>
            <a:ln w="19065" cap="sq">
              <a:solidFill>
                <a:srgbClr val="CFE0F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741922" y="6282347"/>
            <a:ext cx="7130091" cy="47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Hardware, Portability &amp; License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41922" y="6883527"/>
            <a:ext cx="7130091" cy="166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USB-based project files, model, and data; Android integration for floating controls, notifications, background services, and USB events. Verify the final model and runtime licenses before deployment.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0124" y="1256833"/>
            <a:ext cx="16337309" cy="69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5103" b="true">
                <a:solidFill>
                  <a:srgbClr val="1E3A5F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 &amp; Workflow Diagram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3224" y="2287791"/>
            <a:ext cx="16395402" cy="7549696"/>
            <a:chOff x="0" y="0"/>
            <a:chExt cx="21860535" cy="10066261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21860511" cy="10066274"/>
            </a:xfrm>
            <a:custGeom>
              <a:avLst/>
              <a:gdLst/>
              <a:ahLst/>
              <a:cxnLst/>
              <a:rect r="r" b="b" t="t" l="l"/>
              <a:pathLst>
                <a:path h="10066274" w="21860511">
                  <a:moveTo>
                    <a:pt x="0" y="0"/>
                  </a:moveTo>
                  <a:lnTo>
                    <a:pt x="21860511" y="0"/>
                  </a:lnTo>
                  <a:lnTo>
                    <a:pt x="21860511" y="10066274"/>
                  </a:lnTo>
                  <a:lnTo>
                    <a:pt x="0" y="10066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" t="0" r="-15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0124" y="1256833"/>
            <a:ext cx="16337309" cy="69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5103" b="true">
                <a:solidFill>
                  <a:srgbClr val="1E3A5F"/>
                </a:solidFill>
                <a:latin typeface="Arimo Bold"/>
                <a:ea typeface="Arimo Bold"/>
                <a:cs typeface="Arimo Bold"/>
                <a:sym typeface="Arimo Bold"/>
              </a:rPr>
              <a:t>Feasibility, Viability &amp; Impact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20124" y="2390708"/>
            <a:ext cx="5083645" cy="3504067"/>
            <a:chOff x="0" y="0"/>
            <a:chExt cx="6778193" cy="46720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78117" cy="4672076"/>
            </a:xfrm>
            <a:custGeom>
              <a:avLst/>
              <a:gdLst/>
              <a:ahLst/>
              <a:cxnLst/>
              <a:rect r="r" b="b" t="t" l="l"/>
              <a:pathLst>
                <a:path h="4672076" w="6778117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6534150" y="0"/>
                  </a:lnTo>
                  <a:cubicBezTo>
                    <a:pt x="6668897" y="0"/>
                    <a:pt x="6778117" y="109220"/>
                    <a:pt x="6778117" y="243967"/>
                  </a:cubicBezTo>
                  <a:lnTo>
                    <a:pt x="6778117" y="4428109"/>
                  </a:lnTo>
                  <a:cubicBezTo>
                    <a:pt x="6778117" y="4562856"/>
                    <a:pt x="6668897" y="4672076"/>
                    <a:pt x="6534150" y="4672076"/>
                  </a:cubicBezTo>
                  <a:lnTo>
                    <a:pt x="243967" y="4672076"/>
                  </a:lnTo>
                  <a:cubicBezTo>
                    <a:pt x="109220" y="4672076"/>
                    <a:pt x="0" y="4562856"/>
                    <a:pt x="0" y="44281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20124" y="2390708"/>
            <a:ext cx="5083645" cy="3504067"/>
            <a:chOff x="0" y="0"/>
            <a:chExt cx="6778193" cy="4672089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6778244" cy="4672076"/>
            </a:xfrm>
            <a:custGeom>
              <a:avLst/>
              <a:gdLst/>
              <a:ahLst/>
              <a:cxnLst/>
              <a:rect r="r" b="b" t="t" l="l"/>
              <a:pathLst>
                <a:path h="4672076" w="6778244">
                  <a:moveTo>
                    <a:pt x="0" y="0"/>
                  </a:moveTo>
                  <a:lnTo>
                    <a:pt x="6778244" y="0"/>
                  </a:lnTo>
                  <a:lnTo>
                    <a:pt x="6778244" y="4672076"/>
                  </a:lnTo>
                  <a:lnTo>
                    <a:pt x="0" y="4672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5" r="0" b="-125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39538" y="2887361"/>
            <a:ext cx="4372156" cy="453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E3A5F"/>
                </a:solidFill>
                <a:latin typeface="Arimo Bold"/>
                <a:ea typeface="Arimo Bold"/>
                <a:cs typeface="Arimo Bold"/>
                <a:sym typeface="Arimo Bold"/>
              </a:rPr>
              <a:t>Feasibility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9538" y="3406702"/>
            <a:ext cx="4286364" cy="2058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1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A lightweight single-file bundle (index.html) that runs directly from a USB flash drive or local storage, with no server dependency.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08797" y="2390708"/>
            <a:ext cx="5083797" cy="3504067"/>
            <a:chOff x="0" y="0"/>
            <a:chExt cx="6778396" cy="46720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8244" cy="4672076"/>
            </a:xfrm>
            <a:custGeom>
              <a:avLst/>
              <a:gdLst/>
              <a:ahLst/>
              <a:cxnLst/>
              <a:rect r="r" b="b" t="t" l="l"/>
              <a:pathLst>
                <a:path h="4672076" w="6778244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6534277" y="0"/>
                  </a:lnTo>
                  <a:cubicBezTo>
                    <a:pt x="6669024" y="0"/>
                    <a:pt x="6778244" y="109220"/>
                    <a:pt x="6778244" y="243967"/>
                  </a:cubicBezTo>
                  <a:lnTo>
                    <a:pt x="6778244" y="4428109"/>
                  </a:lnTo>
                  <a:cubicBezTo>
                    <a:pt x="6778244" y="4562856"/>
                    <a:pt x="6669024" y="4672076"/>
                    <a:pt x="6534277" y="4672076"/>
                  </a:cubicBezTo>
                  <a:lnTo>
                    <a:pt x="243967" y="4672076"/>
                  </a:lnTo>
                  <a:cubicBezTo>
                    <a:pt x="109220" y="4672076"/>
                    <a:pt x="0" y="4562856"/>
                    <a:pt x="0" y="44281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608797" y="2390708"/>
            <a:ext cx="5083797" cy="3504067"/>
            <a:chOff x="0" y="0"/>
            <a:chExt cx="6778396" cy="4672089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6778371" cy="4672076"/>
            </a:xfrm>
            <a:custGeom>
              <a:avLst/>
              <a:gdLst/>
              <a:ahLst/>
              <a:cxnLst/>
              <a:rect r="r" b="b" t="t" l="l"/>
              <a:pathLst>
                <a:path h="4672076" w="6778371">
                  <a:moveTo>
                    <a:pt x="0" y="0"/>
                  </a:moveTo>
                  <a:lnTo>
                    <a:pt x="6778371" y="0"/>
                  </a:lnTo>
                  <a:lnTo>
                    <a:pt x="6778371" y="4672076"/>
                  </a:lnTo>
                  <a:lnTo>
                    <a:pt x="0" y="4672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6" r="0" b="-127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028212" y="2887361"/>
            <a:ext cx="4372308" cy="453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E3A5F"/>
                </a:solidFill>
                <a:latin typeface="Arimo Bold"/>
                <a:ea typeface="Arimo Bold"/>
                <a:cs typeface="Arimo Bold"/>
                <a:sym typeface="Arimo Bold"/>
              </a:rPr>
              <a:t>Viability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28212" y="3406702"/>
            <a:ext cx="4286517" cy="2058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1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An open, scalable architecture that can integrate local hardware sensors (gyroscopes, smart watches) and local LLMs for true offline portability.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997919" y="2390708"/>
            <a:ext cx="5083645" cy="3504067"/>
            <a:chOff x="0" y="0"/>
            <a:chExt cx="6778193" cy="46720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78117" cy="4672076"/>
            </a:xfrm>
            <a:custGeom>
              <a:avLst/>
              <a:gdLst/>
              <a:ahLst/>
              <a:cxnLst/>
              <a:rect r="r" b="b" t="t" l="l"/>
              <a:pathLst>
                <a:path h="4672076" w="6778117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6534150" y="0"/>
                  </a:lnTo>
                  <a:cubicBezTo>
                    <a:pt x="6668897" y="0"/>
                    <a:pt x="6778117" y="109220"/>
                    <a:pt x="6778117" y="243967"/>
                  </a:cubicBezTo>
                  <a:lnTo>
                    <a:pt x="6778117" y="4428109"/>
                  </a:lnTo>
                  <a:cubicBezTo>
                    <a:pt x="6778117" y="4562856"/>
                    <a:pt x="6668897" y="4672076"/>
                    <a:pt x="6534150" y="4672076"/>
                  </a:cubicBezTo>
                  <a:lnTo>
                    <a:pt x="243967" y="4672076"/>
                  </a:lnTo>
                  <a:cubicBezTo>
                    <a:pt x="109220" y="4672076"/>
                    <a:pt x="0" y="4562856"/>
                    <a:pt x="0" y="44281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997919" y="2390708"/>
            <a:ext cx="5083645" cy="3504067"/>
            <a:chOff x="0" y="0"/>
            <a:chExt cx="6778193" cy="467208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6778244" cy="4672076"/>
            </a:xfrm>
            <a:custGeom>
              <a:avLst/>
              <a:gdLst/>
              <a:ahLst/>
              <a:cxnLst/>
              <a:rect r="r" b="b" t="t" l="l"/>
              <a:pathLst>
                <a:path h="4672076" w="6778244">
                  <a:moveTo>
                    <a:pt x="0" y="0"/>
                  </a:moveTo>
                  <a:lnTo>
                    <a:pt x="6778244" y="0"/>
                  </a:lnTo>
                  <a:lnTo>
                    <a:pt x="6778244" y="4672076"/>
                  </a:lnTo>
                  <a:lnTo>
                    <a:pt x="0" y="4672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5" r="0" b="-125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417342" y="2887361"/>
            <a:ext cx="4372156" cy="453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E3A5F"/>
                </a:solidFill>
                <a:latin typeface="Arimo Bold"/>
                <a:ea typeface="Arimo Bold"/>
                <a:cs typeface="Arimo Bold"/>
                <a:sym typeface="Arimo Bold"/>
              </a:rPr>
              <a:t>Social Impact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17342" y="3406702"/>
            <a:ext cx="4286364" cy="2058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1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Secures the golden hour, bridges language barriers for responders through regional Indian languages, and protects patient privacy.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761190"/>
            <a:ext cx="16471659" cy="806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>
                <a:solidFill>
                  <a:srgbClr val="1E3A5F"/>
                </a:solidFill>
                <a:latin typeface="Arimo"/>
                <a:ea typeface="Arimo"/>
                <a:cs typeface="Arimo"/>
                <a:sym typeface="Arimo"/>
              </a:rPr>
              <a:t>Project Outcome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862196" y="1845421"/>
            <a:ext cx="12577448" cy="6806022"/>
            <a:chOff x="0" y="0"/>
            <a:chExt cx="16769931" cy="9074696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16769969" cy="9074658"/>
            </a:xfrm>
            <a:custGeom>
              <a:avLst/>
              <a:gdLst/>
              <a:ahLst/>
              <a:cxnLst/>
              <a:rect r="r" b="b" t="t" l="l"/>
              <a:pathLst>
                <a:path h="9074658" w="16769969">
                  <a:moveTo>
                    <a:pt x="0" y="0"/>
                  </a:moveTo>
                  <a:lnTo>
                    <a:pt x="16769969" y="0"/>
                  </a:lnTo>
                  <a:lnTo>
                    <a:pt x="16769969" y="9074658"/>
                  </a:lnTo>
                  <a:lnTo>
                    <a:pt x="0" y="907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t="0" r="-2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5095" y="8813540"/>
            <a:ext cx="17386744" cy="464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Values shown are illustrative prototype data only.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0124" y="1313107"/>
            <a:ext cx="16338204" cy="121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3"/>
              </a:lnSpc>
            </a:pPr>
            <a:r>
              <a:rPr lang="en-US" sz="9007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Thank 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20124" y="2748753"/>
            <a:ext cx="16338204" cy="68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sz="3302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“Securing Lives, Offline &amp; Anywhere.”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20124" y="3980240"/>
            <a:ext cx="4084549" cy="47511"/>
            <a:chOff x="0" y="0"/>
            <a:chExt cx="5446065" cy="633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46014" cy="63247"/>
            </a:xfrm>
            <a:custGeom>
              <a:avLst/>
              <a:gdLst/>
              <a:ahLst/>
              <a:cxnLst/>
              <a:rect r="r" b="b" t="t" l="l"/>
              <a:pathLst>
                <a:path h="63247" w="5446014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5414391" y="0"/>
                  </a:lnTo>
                  <a:cubicBezTo>
                    <a:pt x="5431917" y="0"/>
                    <a:pt x="5446014" y="14224"/>
                    <a:pt x="5446014" y="31623"/>
                  </a:cubicBezTo>
                  <a:cubicBezTo>
                    <a:pt x="5446014" y="49149"/>
                    <a:pt x="5431790" y="63246"/>
                    <a:pt x="5414391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20124" y="4208640"/>
            <a:ext cx="16338204" cy="252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5"/>
              </a:lnSpc>
            </a:pPr>
            <a:r>
              <a:rPr lang="en-US" sz="2476" b="true">
                <a:solidFill>
                  <a:srgbClr val="7DD3FC"/>
                </a:solidFill>
                <a:latin typeface="Arimo Bold"/>
                <a:ea typeface="Arimo Bold"/>
                <a:cs typeface="Arimo Bold"/>
                <a:sym typeface="Arimo Bold"/>
              </a:rPr>
              <a:t>Incubator / Faculty Support</a:t>
            </a:r>
          </a:p>
          <a:p>
            <a:pPr algn="l">
              <a:lnSpc>
                <a:spcPts val="3715"/>
              </a:lnSpc>
            </a:pPr>
            <a:r>
              <a:rPr lang="en-US" sz="24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Mahendar Raju</a:t>
            </a:r>
          </a:p>
          <a:p>
            <a:pPr algn="l">
              <a:lnSpc>
                <a:spcPts val="3715"/>
              </a:lnSpc>
            </a:pPr>
            <a:r>
              <a:rPr lang="en-US" sz="2476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Embedded Trainer, CDC</a:t>
            </a:r>
          </a:p>
          <a:p>
            <a:pPr algn="l">
              <a:lnSpc>
                <a:spcPts val="3715"/>
              </a:lnSpc>
            </a:pPr>
            <a:r>
              <a:rPr lang="en-US" sz="2476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Assistant Professor, ECE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DAHY43DW-58</dc:identifier>
  <dcterms:modified xsi:type="dcterms:W3CDTF">2011-08-01T06:04:30Z</dcterms:modified>
  <cp:revision>1</cp:revision>
  <dc:title>Dynamic-AI-Medical-Guardiann.pptx</dc:title>
</cp:coreProperties>
</file>